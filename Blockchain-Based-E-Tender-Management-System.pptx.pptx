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raunces" charset="1" panose="00000000000000000000"/>
      <p:regular r:id="rId20"/>
    </p:embeddedFon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7.jpeg" Type="http://schemas.openxmlformats.org/officeDocument/2006/relationships/image"/><Relationship Id="rId4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3574980"/>
            <a:ext cx="9452677" cy="179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Blockchain-Based E-Tender Management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5697645"/>
            <a:ext cx="945267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GovTender</a:t>
            </a: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— A Micro Project by Sri Manakula Vinayagar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6182" y="784650"/>
            <a:ext cx="9452677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The Problem</a:t>
            </a:r>
          </a:p>
        </p:txBody>
      </p:sp>
      <p:sp>
        <p:nvSpPr>
          <p:cNvPr name="Freeform 5" id="5" descr="preencoded.png"/>
          <p:cNvSpPr/>
          <p:nvPr/>
        </p:nvSpPr>
        <p:spPr>
          <a:xfrm flipH="false" flipV="false" rot="0">
            <a:off x="7856182" y="1864785"/>
            <a:ext cx="9452677" cy="1752924"/>
          </a:xfrm>
          <a:custGeom>
            <a:avLst/>
            <a:gdLst/>
            <a:ahLst/>
            <a:cxnLst/>
            <a:rect r="r" b="b" t="t" l="l"/>
            <a:pathLst>
              <a:path h="1752924" w="9452677">
                <a:moveTo>
                  <a:pt x="0" y="0"/>
                </a:moveTo>
                <a:lnTo>
                  <a:pt x="9452677" y="0"/>
                </a:lnTo>
                <a:lnTo>
                  <a:pt x="9452677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40297" y="2115474"/>
            <a:ext cx="879882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No Tamper-Evident Audit Trail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40297" y="2558034"/>
            <a:ext cx="8798824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Manual tender processes lack transparency; records can be altered without detection.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856182" y="3822659"/>
            <a:ext cx="9452677" cy="1752924"/>
          </a:xfrm>
          <a:custGeom>
            <a:avLst/>
            <a:gdLst/>
            <a:ahLst/>
            <a:cxnLst/>
            <a:rect r="r" b="b" t="t" l="l"/>
            <a:pathLst>
              <a:path h="1752924" w="9452677">
                <a:moveTo>
                  <a:pt x="0" y="0"/>
                </a:moveTo>
                <a:lnTo>
                  <a:pt x="9452677" y="0"/>
                </a:lnTo>
                <a:lnTo>
                  <a:pt x="9452677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0297" y="4073347"/>
            <a:ext cx="879882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Bid Confidentiality at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0297" y="4515907"/>
            <a:ext cx="8798824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Unauthorized access to bid data undermines fairness and procurement integrity.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856182" y="5780532"/>
            <a:ext cx="9452677" cy="1752924"/>
          </a:xfrm>
          <a:custGeom>
            <a:avLst/>
            <a:gdLst/>
            <a:ahLst/>
            <a:cxnLst/>
            <a:rect r="r" b="b" t="t" l="l"/>
            <a:pathLst>
              <a:path h="1752924" w="9452677">
                <a:moveTo>
                  <a:pt x="0" y="0"/>
                </a:moveTo>
                <a:lnTo>
                  <a:pt x="9452677" y="0"/>
                </a:lnTo>
                <a:lnTo>
                  <a:pt x="9452677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40297" y="6031220"/>
            <a:ext cx="879882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Slow, Reactive 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0297" y="6473781"/>
            <a:ext cx="8798824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Manual scoring is time-consuming with no predictive risk analysis before award.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56182" y="7738415"/>
            <a:ext cx="9452677" cy="1752924"/>
          </a:xfrm>
          <a:custGeom>
            <a:avLst/>
            <a:gdLst/>
            <a:ahLst/>
            <a:cxnLst/>
            <a:rect r="r" b="b" t="t" l="l"/>
            <a:pathLst>
              <a:path h="1752924" w="9452677">
                <a:moveTo>
                  <a:pt x="0" y="0"/>
                </a:moveTo>
                <a:lnTo>
                  <a:pt x="9452677" y="0"/>
                </a:lnTo>
                <a:lnTo>
                  <a:pt x="9452677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0297" y="7989103"/>
            <a:ext cx="8798824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Post-Award Blind Spots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40297" y="8431654"/>
            <a:ext cx="8798824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Project delays and cost overruns go undetected without continuous monitoring.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2325929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Our Solution: GovTender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2991" y="3799132"/>
            <a:ext cx="2211476" cy="1366714"/>
            <a:chOff x="0" y="0"/>
            <a:chExt cx="2948635" cy="1822285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2948686" cy="1822323"/>
            </a:xfrm>
            <a:custGeom>
              <a:avLst/>
              <a:gdLst/>
              <a:ahLst/>
              <a:cxnLst/>
              <a:rect r="r" b="b" t="t" l="l"/>
              <a:pathLst>
                <a:path h="1822323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1822323"/>
                  </a:lnTo>
                  <a:lnTo>
                    <a:pt x="0" y="182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6" r="1" b="-21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92991" y="5520480"/>
            <a:ext cx="3812886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Hyperledger Fabric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991" y="6038736"/>
            <a:ext cx="3812886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Tamper-evident blockchain records for every tender transaction — immutable and verifiable.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60502" y="3799132"/>
            <a:ext cx="2211476" cy="1366714"/>
            <a:chOff x="0" y="0"/>
            <a:chExt cx="2948635" cy="182228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948686" cy="1822323"/>
            </a:xfrm>
            <a:custGeom>
              <a:avLst/>
              <a:gdLst/>
              <a:ahLst/>
              <a:cxnLst/>
              <a:rect r="r" b="b" t="t" l="l"/>
              <a:pathLst>
                <a:path h="1822323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1822323"/>
                  </a:lnTo>
                  <a:lnTo>
                    <a:pt x="0" y="182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6" r="1" b="-21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160502" y="5520480"/>
            <a:ext cx="3813029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Smart Contracts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60502" y="6038736"/>
            <a:ext cx="3813029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Automate bid validation, eligibility checks, and payment authorization without manual steps.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8156" y="3799132"/>
            <a:ext cx="2211476" cy="1366714"/>
            <a:chOff x="0" y="0"/>
            <a:chExt cx="2948635" cy="182228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948686" cy="1822323"/>
            </a:xfrm>
            <a:custGeom>
              <a:avLst/>
              <a:gdLst/>
              <a:ahLst/>
              <a:cxnLst/>
              <a:rect r="r" b="b" t="t" l="l"/>
              <a:pathLst>
                <a:path h="1822323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1822323"/>
                  </a:lnTo>
                  <a:lnTo>
                    <a:pt x="0" y="182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6" r="1" b="-21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28156" y="5520480"/>
            <a:ext cx="3813029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Machine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8156" y="6038736"/>
            <a:ext cx="3813029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Predict contractor risk, project delays, and cost overruns before they materialize.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495820" y="3799132"/>
            <a:ext cx="2211476" cy="1366714"/>
            <a:chOff x="0" y="0"/>
            <a:chExt cx="2948635" cy="182228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48686" cy="1822323"/>
            </a:xfrm>
            <a:custGeom>
              <a:avLst/>
              <a:gdLst/>
              <a:ahLst/>
              <a:cxnLst/>
              <a:rect r="r" b="b" t="t" l="l"/>
              <a:pathLst>
                <a:path h="1822323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1822323"/>
                  </a:lnTo>
                  <a:lnTo>
                    <a:pt x="0" y="1822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6" r="1" b="-21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495820" y="5520480"/>
            <a:ext cx="3813029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Integrated Monitoring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95820" y="6038736"/>
            <a:ext cx="3813029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Track milestones, payments, and audit records end-to-end across the full lifecycle.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767524"/>
            <a:ext cx="16315868" cy="8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85297" y="2187845"/>
            <a:ext cx="7061730" cy="7061902"/>
            <a:chOff x="0" y="0"/>
            <a:chExt cx="9415640" cy="9415869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9415653" cy="9415907"/>
            </a:xfrm>
            <a:custGeom>
              <a:avLst/>
              <a:gdLst/>
              <a:ahLst/>
              <a:cxnLst/>
              <a:rect r="r" b="b" t="t" l="l"/>
              <a:pathLst>
                <a:path h="9415907" w="9415653">
                  <a:moveTo>
                    <a:pt x="0" y="0"/>
                  </a:moveTo>
                  <a:lnTo>
                    <a:pt x="9415653" y="0"/>
                  </a:lnTo>
                  <a:lnTo>
                    <a:pt x="9415653" y="9415907"/>
                  </a:lnTo>
                  <a:lnTo>
                    <a:pt x="0" y="9415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71889" y="2970990"/>
            <a:ext cx="7846495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Technology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1889" y="3523488"/>
            <a:ext cx="7846495" cy="496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Frontend:</a:t>
            </a: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React.js with role-based access control — five distinct user roles ensure each stakeholder sees only what they are authorized to access.</a:t>
            </a:r>
          </a:p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Backend:</a:t>
            </a: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FastAPI paired with PostgreSQL delivers fast, secure data management and a clean API layer between the UI and blockchain.</a:t>
            </a:r>
          </a:p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Blockchain:</a:t>
            </a: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Hyperledger Fabric writes immutable transaction records, ensuring no record can be silently altered after submission.</a:t>
            </a:r>
          </a:p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ML Module:</a:t>
            </a: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Random Forest models trained on historical project data power the risk prediction engine.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954005"/>
            <a:ext cx="16315868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Tender Lifecycle 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16687" y="2136610"/>
            <a:ext cx="13868467" cy="6240923"/>
            <a:chOff x="0" y="0"/>
            <a:chExt cx="18491289" cy="832123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18491327" cy="8321294"/>
            </a:xfrm>
            <a:custGeom>
              <a:avLst/>
              <a:gdLst/>
              <a:ahLst/>
              <a:cxnLst/>
              <a:rect r="r" b="b" t="t" l="l"/>
              <a:pathLst>
                <a:path h="8321294" w="18491327">
                  <a:moveTo>
                    <a:pt x="0" y="0"/>
                  </a:moveTo>
                  <a:lnTo>
                    <a:pt x="18491327" y="0"/>
                  </a:lnTo>
                  <a:lnTo>
                    <a:pt x="18491327" y="8321294"/>
                  </a:lnTo>
                  <a:lnTo>
                    <a:pt x="0" y="832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" r="0" b="-17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05738" y="2399271"/>
            <a:ext cx="2426960" cy="39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Creation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05738" y="2881008"/>
            <a:ext cx="2426960" cy="5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Publish tender with blockchain seal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6038" y="7079961"/>
            <a:ext cx="2440295" cy="39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Submission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06038" y="7561697"/>
            <a:ext cx="2440295" cy="5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Bids filed; ML risk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79659" y="2352589"/>
            <a:ext cx="2426960" cy="39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Execution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79659" y="2834335"/>
            <a:ext cx="2426960" cy="5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Track milestones; smart payments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9959" y="7079961"/>
            <a:ext cx="2426970" cy="39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Audit Trail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9959" y="7561697"/>
            <a:ext cx="2426970" cy="5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Complete verifiable project history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531895"/>
            <a:ext cx="16315868" cy="7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Every phase produces an immutable blockchain record, creating a continuous and verifiable chain of custody from tender creation through final project close-out.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1016565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Key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219" y="2484987"/>
            <a:ext cx="8025527" cy="3252502"/>
            <a:chOff x="0" y="0"/>
            <a:chExt cx="10700702" cy="43366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00766" cy="4336669"/>
            </a:xfrm>
            <a:custGeom>
              <a:avLst/>
              <a:gdLst/>
              <a:ahLst/>
              <a:cxnLst/>
              <a:rect r="r" b="b" t="t" l="l"/>
              <a:pathLst>
                <a:path h="4336669" w="10700766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381" y="0"/>
                  </a:lnTo>
                  <a:cubicBezTo>
                    <a:pt x="10629392" y="0"/>
                    <a:pt x="10700766" y="71374"/>
                    <a:pt x="10700766" y="159385"/>
                  </a:cubicBezTo>
                  <a:lnTo>
                    <a:pt x="10700766" y="4177284"/>
                  </a:lnTo>
                  <a:cubicBezTo>
                    <a:pt x="10700766" y="4265295"/>
                    <a:pt x="10629392" y="4336669"/>
                    <a:pt x="10541381" y="4336669"/>
                  </a:cubicBezTo>
                  <a:lnTo>
                    <a:pt x="159385" y="4336669"/>
                  </a:lnTo>
                  <a:cubicBezTo>
                    <a:pt x="71374" y="4336669"/>
                    <a:pt x="0" y="4265295"/>
                    <a:pt x="0" y="4177284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86256" y="2783024"/>
            <a:ext cx="851192" cy="851221"/>
            <a:chOff x="0" y="0"/>
            <a:chExt cx="1134923" cy="11349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1520390" y="3017015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755" r="0" b="-975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6256" y="3917985"/>
            <a:ext cx="7429462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Transparent Allocation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6256" y="4436240"/>
            <a:ext cx="7429462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Blockchain eliminates manual intervention; every change is traceable and attributable.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87942" y="2484987"/>
            <a:ext cx="8025670" cy="3252502"/>
            <a:chOff x="0" y="0"/>
            <a:chExt cx="10700893" cy="4336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00893" cy="4336669"/>
            </a:xfrm>
            <a:custGeom>
              <a:avLst/>
              <a:gdLst/>
              <a:ahLst/>
              <a:cxnLst/>
              <a:rect r="r" b="b" t="t" l="l"/>
              <a:pathLst>
                <a:path h="4336669" w="10700893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508" y="0"/>
                  </a:lnTo>
                  <a:cubicBezTo>
                    <a:pt x="10629519" y="0"/>
                    <a:pt x="10700893" y="71374"/>
                    <a:pt x="10700893" y="159385"/>
                  </a:cubicBezTo>
                  <a:lnTo>
                    <a:pt x="10700893" y="4177284"/>
                  </a:lnTo>
                  <a:cubicBezTo>
                    <a:pt x="10700893" y="4265295"/>
                    <a:pt x="10629519" y="4336669"/>
                    <a:pt x="10541508" y="4336669"/>
                  </a:cubicBezTo>
                  <a:lnTo>
                    <a:pt x="159385" y="4336669"/>
                  </a:lnTo>
                  <a:cubicBezTo>
                    <a:pt x="71374" y="4336669"/>
                    <a:pt x="0" y="4265295"/>
                    <a:pt x="0" y="4177284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85979" y="2783024"/>
            <a:ext cx="851192" cy="851221"/>
            <a:chOff x="0" y="0"/>
            <a:chExt cx="1134923" cy="11349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9820113" y="3017015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85979" y="3917985"/>
            <a:ext cx="7429614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Secure Bidding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5979" y="4436240"/>
            <a:ext cx="7429614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Role-based access control protects confidential bid information throughout the process.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8219" y="6011694"/>
            <a:ext cx="8025527" cy="3252502"/>
            <a:chOff x="0" y="0"/>
            <a:chExt cx="10700702" cy="43366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00766" cy="4336669"/>
            </a:xfrm>
            <a:custGeom>
              <a:avLst/>
              <a:gdLst/>
              <a:ahLst/>
              <a:cxnLst/>
              <a:rect r="r" b="b" t="t" l="l"/>
              <a:pathLst>
                <a:path h="4336669" w="10700766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381" y="0"/>
                  </a:lnTo>
                  <a:cubicBezTo>
                    <a:pt x="10629392" y="0"/>
                    <a:pt x="10700766" y="71374"/>
                    <a:pt x="10700766" y="159385"/>
                  </a:cubicBezTo>
                  <a:lnTo>
                    <a:pt x="10700766" y="4177284"/>
                  </a:lnTo>
                  <a:cubicBezTo>
                    <a:pt x="10700766" y="4265295"/>
                    <a:pt x="10629392" y="4336669"/>
                    <a:pt x="10541381" y="4336669"/>
                  </a:cubicBezTo>
                  <a:lnTo>
                    <a:pt x="159385" y="4336669"/>
                  </a:lnTo>
                  <a:cubicBezTo>
                    <a:pt x="71374" y="4336669"/>
                    <a:pt x="0" y="4265295"/>
                    <a:pt x="0" y="4177284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86256" y="6309731"/>
            <a:ext cx="851192" cy="851221"/>
            <a:chOff x="0" y="0"/>
            <a:chExt cx="1134923" cy="11349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520390" y="6543732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437" r="0" b="-2437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86256" y="7444692"/>
            <a:ext cx="7429462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Risk Prediction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256" y="7962948"/>
            <a:ext cx="7429462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ML analyzes contractor experience, past delays, and cost patterns before award decisions.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7942" y="6011694"/>
            <a:ext cx="8025670" cy="3252502"/>
            <a:chOff x="0" y="0"/>
            <a:chExt cx="10700893" cy="43366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00893" cy="4336669"/>
            </a:xfrm>
            <a:custGeom>
              <a:avLst/>
              <a:gdLst/>
              <a:ahLst/>
              <a:cxnLst/>
              <a:rect r="r" b="b" t="t" l="l"/>
              <a:pathLst>
                <a:path h="4336669" w="10700893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10541508" y="0"/>
                  </a:lnTo>
                  <a:cubicBezTo>
                    <a:pt x="10629519" y="0"/>
                    <a:pt x="10700893" y="71374"/>
                    <a:pt x="10700893" y="159385"/>
                  </a:cubicBezTo>
                  <a:lnTo>
                    <a:pt x="10700893" y="4177284"/>
                  </a:lnTo>
                  <a:cubicBezTo>
                    <a:pt x="10700893" y="4265295"/>
                    <a:pt x="10629519" y="4336669"/>
                    <a:pt x="10541508" y="4336669"/>
                  </a:cubicBezTo>
                  <a:lnTo>
                    <a:pt x="159385" y="4336669"/>
                  </a:lnTo>
                  <a:cubicBezTo>
                    <a:pt x="71374" y="4336669"/>
                    <a:pt x="0" y="4265295"/>
                    <a:pt x="0" y="4177284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85979" y="6309731"/>
            <a:ext cx="851192" cy="851221"/>
            <a:chOff x="0" y="0"/>
            <a:chExt cx="1134923" cy="11349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9820113" y="6543732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80" t="0" r="-4877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585979" y="7444692"/>
            <a:ext cx="7429614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Real-Time Monitoring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85979" y="7962948"/>
            <a:ext cx="7429614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Dashboard tracks progress, payments, and overall project health continuously.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1487672"/>
            <a:ext cx="16315868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Machine Learning Models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58358" y="3492303"/>
            <a:ext cx="7304951" cy="4139470"/>
            <a:chOff x="0" y="0"/>
            <a:chExt cx="9739935" cy="5519293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9739884" cy="5519293"/>
            </a:xfrm>
            <a:custGeom>
              <a:avLst/>
              <a:gdLst/>
              <a:ahLst/>
              <a:cxnLst/>
              <a:rect r="r" b="b" t="t" l="l"/>
              <a:pathLst>
                <a:path h="5519293" w="9739884">
                  <a:moveTo>
                    <a:pt x="0" y="0"/>
                  </a:moveTo>
                  <a:lnTo>
                    <a:pt x="9739884" y="0"/>
                  </a:lnTo>
                  <a:lnTo>
                    <a:pt x="9739884" y="5519293"/>
                  </a:lnTo>
                  <a:lnTo>
                    <a:pt x="0" y="551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2" r="0" b="-4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922557" y="2465337"/>
            <a:ext cx="5395674" cy="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Three Predictive Models — Random Forest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11922557" y="2941501"/>
            <a:ext cx="5395674" cy="1984238"/>
          </a:xfrm>
          <a:custGeom>
            <a:avLst/>
            <a:gdLst/>
            <a:ahLst/>
            <a:cxnLst/>
            <a:rect r="r" b="b" t="t" l="l"/>
            <a:pathLst>
              <a:path h="1984238" w="5395674">
                <a:moveTo>
                  <a:pt x="0" y="0"/>
                </a:moveTo>
                <a:lnTo>
                  <a:pt x="5395674" y="0"/>
                </a:lnTo>
                <a:lnTo>
                  <a:pt x="5395674" y="1984238"/>
                </a:lnTo>
                <a:lnTo>
                  <a:pt x="0" y="1984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7" r="0" b="-11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194677" y="3747440"/>
            <a:ext cx="297885" cy="372361"/>
            <a:chOff x="0" y="0"/>
            <a:chExt cx="397180" cy="4964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884572" y="3159119"/>
            <a:ext cx="4206535" cy="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Contractor Risk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84572" y="3579762"/>
            <a:ext cx="4206535" cy="111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Predicts contractor reliability based on years of experience, past project outcomes, and historical performance scores.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922557" y="5064709"/>
            <a:ext cx="5395674" cy="1714052"/>
          </a:xfrm>
          <a:custGeom>
            <a:avLst/>
            <a:gdLst/>
            <a:ahLst/>
            <a:cxnLst/>
            <a:rect r="r" b="b" t="t" l="l"/>
            <a:pathLst>
              <a:path h="1714052" w="5395674">
                <a:moveTo>
                  <a:pt x="0" y="0"/>
                </a:moveTo>
                <a:lnTo>
                  <a:pt x="5395674" y="0"/>
                </a:lnTo>
                <a:lnTo>
                  <a:pt x="5395674" y="1714053"/>
                </a:lnTo>
                <a:lnTo>
                  <a:pt x="0" y="1714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" t="0" r="-33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194677" y="5735555"/>
            <a:ext cx="297885" cy="372361"/>
            <a:chOff x="0" y="0"/>
            <a:chExt cx="397180" cy="4964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84572" y="5282327"/>
            <a:ext cx="4206535" cy="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Project Delay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84572" y="5702970"/>
            <a:ext cx="4206535" cy="8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Identifies timeline risks by learning from historical project schedules, scope changes, and environmental factors.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1922557" y="6917731"/>
            <a:ext cx="5395674" cy="1714052"/>
          </a:xfrm>
          <a:custGeom>
            <a:avLst/>
            <a:gdLst/>
            <a:ahLst/>
            <a:cxnLst/>
            <a:rect r="r" b="b" t="t" l="l"/>
            <a:pathLst>
              <a:path h="1714052" w="5395674">
                <a:moveTo>
                  <a:pt x="0" y="0"/>
                </a:moveTo>
                <a:lnTo>
                  <a:pt x="5395674" y="0"/>
                </a:lnTo>
                <a:lnTo>
                  <a:pt x="5395674" y="1714053"/>
                </a:lnTo>
                <a:lnTo>
                  <a:pt x="0" y="1714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" t="0" r="-33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194677" y="7588577"/>
            <a:ext cx="297885" cy="372361"/>
            <a:chOff x="0" y="0"/>
            <a:chExt cx="397180" cy="4964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7176" cy="496482"/>
            </a:xfrm>
            <a:custGeom>
              <a:avLst/>
              <a:gdLst/>
              <a:ahLst/>
              <a:cxnLst/>
              <a:rect r="r" b="b" t="t" l="l"/>
              <a:pathLst>
                <a:path h="496482" w="397176">
                  <a:moveTo>
                    <a:pt x="0" y="0"/>
                  </a:moveTo>
                  <a:lnTo>
                    <a:pt x="397176" y="0"/>
                  </a:lnTo>
                  <a:lnTo>
                    <a:pt x="397176" y="496482"/>
                  </a:lnTo>
                  <a:lnTo>
                    <a:pt x="0" y="49648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2" t="0" r="-11038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97180" cy="49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EBECEF"/>
                  </a:solidFill>
                  <a:latin typeface="Fraunces"/>
                  <a:ea typeface="Fraunces"/>
                  <a:cs typeface="Fraunces"/>
                  <a:sym typeface="Fraunces"/>
                </a:rPr>
                <a:t>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884572" y="7135339"/>
            <a:ext cx="4206535" cy="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Cost Overrun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84572" y="7555982"/>
            <a:ext cx="4206535" cy="848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Forecasts budget deviations before they occur, enabling proactive corrective action and fund reallocation.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6182" y="900532"/>
            <a:ext cx="9452677" cy="81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Results &amp; 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51410" y="2057524"/>
            <a:ext cx="9462211" cy="7322706"/>
            <a:chOff x="0" y="0"/>
            <a:chExt cx="12616282" cy="97636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16307" cy="9763633"/>
            </a:xfrm>
            <a:custGeom>
              <a:avLst/>
              <a:gdLst/>
              <a:ahLst/>
              <a:cxnLst/>
              <a:rect r="r" b="b" t="t" l="l"/>
              <a:pathLst>
                <a:path h="9763633" w="12616307">
                  <a:moveTo>
                    <a:pt x="0" y="143256"/>
                  </a:moveTo>
                  <a:cubicBezTo>
                    <a:pt x="0" y="64135"/>
                    <a:pt x="64135" y="0"/>
                    <a:pt x="143256" y="0"/>
                  </a:cubicBezTo>
                  <a:lnTo>
                    <a:pt x="12473051" y="0"/>
                  </a:lnTo>
                  <a:cubicBezTo>
                    <a:pt x="12552172" y="0"/>
                    <a:pt x="12616307" y="64135"/>
                    <a:pt x="12616307" y="143256"/>
                  </a:cubicBezTo>
                  <a:lnTo>
                    <a:pt x="12616307" y="9620377"/>
                  </a:lnTo>
                  <a:cubicBezTo>
                    <a:pt x="12616307" y="9699498"/>
                    <a:pt x="12552172" y="9763633"/>
                    <a:pt x="12473051" y="9763633"/>
                  </a:cubicBezTo>
                  <a:lnTo>
                    <a:pt x="143256" y="9763633"/>
                  </a:lnTo>
                  <a:cubicBezTo>
                    <a:pt x="64135" y="9763633"/>
                    <a:pt x="0" y="9699498"/>
                    <a:pt x="0" y="9620377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865707" y="2071821"/>
            <a:ext cx="9433608" cy="1823523"/>
            <a:chOff x="0" y="0"/>
            <a:chExt cx="12578144" cy="2431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78080" cy="2431288"/>
            </a:xfrm>
            <a:custGeom>
              <a:avLst/>
              <a:gdLst/>
              <a:ahLst/>
              <a:cxnLst/>
              <a:rect r="r" b="b" t="t" l="l"/>
              <a:pathLst>
                <a:path h="2431288" w="12578080">
                  <a:moveTo>
                    <a:pt x="119126" y="0"/>
                  </a:moveTo>
                  <a:lnTo>
                    <a:pt x="12458954" y="0"/>
                  </a:lnTo>
                  <a:cubicBezTo>
                    <a:pt x="12524740" y="0"/>
                    <a:pt x="12578080" y="53340"/>
                    <a:pt x="12578080" y="119126"/>
                  </a:cubicBezTo>
                  <a:lnTo>
                    <a:pt x="12578080" y="2431288"/>
                  </a:lnTo>
                  <a:lnTo>
                    <a:pt x="0" y="2431288"/>
                  </a:lnTo>
                  <a:lnTo>
                    <a:pt x="0" y="119126"/>
                  </a:lnTo>
                  <a:cubicBezTo>
                    <a:pt x="0" y="53340"/>
                    <a:pt x="53340" y="0"/>
                    <a:pt x="119126" y="0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120996" y="2327110"/>
            <a:ext cx="8923039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Reduced Manual Intervention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20996" y="2787558"/>
            <a:ext cx="8923039" cy="8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Automated smart contracts handle validation and payment steps without human bottlenecks.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65707" y="3895344"/>
            <a:ext cx="9433608" cy="1823523"/>
            <a:chOff x="0" y="0"/>
            <a:chExt cx="12578144" cy="24313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78207" cy="2431415"/>
            </a:xfrm>
            <a:custGeom>
              <a:avLst/>
              <a:gdLst/>
              <a:ahLst/>
              <a:cxnLst/>
              <a:rect r="r" b="b" t="t" l="l"/>
              <a:pathLst>
                <a:path h="2431415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2431415"/>
                  </a:lnTo>
                  <a:lnTo>
                    <a:pt x="0" y="2431415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65707" y="3895344"/>
            <a:ext cx="9433608" cy="28594"/>
            <a:chOff x="0" y="0"/>
            <a:chExt cx="12578144" cy="38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120996" y="4150633"/>
            <a:ext cx="8923039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Immutable Transparency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20996" y="4611081"/>
            <a:ext cx="8923039" cy="8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Blockchain audit trail makes every tender action verifiable by any authorized auditor.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65707" y="5718877"/>
            <a:ext cx="9433608" cy="1823523"/>
            <a:chOff x="0" y="0"/>
            <a:chExt cx="12578144" cy="2431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78207" cy="2431415"/>
            </a:xfrm>
            <a:custGeom>
              <a:avLst/>
              <a:gdLst/>
              <a:ahLst/>
              <a:cxnLst/>
              <a:rect r="r" b="b" t="t" l="l"/>
              <a:pathLst>
                <a:path h="2431415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2431415"/>
                  </a:lnTo>
                  <a:lnTo>
                    <a:pt x="0" y="2431415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65707" y="5718877"/>
            <a:ext cx="9433608" cy="28594"/>
            <a:chOff x="0" y="0"/>
            <a:chExt cx="12578144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20996" y="5974166"/>
            <a:ext cx="8923039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Early Risk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20996" y="6434614"/>
            <a:ext cx="8923039" cy="8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ML predictions enable proactive decision-making before delays or overruns occur.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65707" y="7542400"/>
            <a:ext cx="9433608" cy="1823523"/>
            <a:chOff x="0" y="0"/>
            <a:chExt cx="12578144" cy="24313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78207" cy="2431288"/>
            </a:xfrm>
            <a:custGeom>
              <a:avLst/>
              <a:gdLst/>
              <a:ahLst/>
              <a:cxnLst/>
              <a:rect r="r" b="b" t="t" l="l"/>
              <a:pathLst>
                <a:path h="2431288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2312162"/>
                  </a:lnTo>
                  <a:cubicBezTo>
                    <a:pt x="12578207" y="2377948"/>
                    <a:pt x="12524867" y="2431288"/>
                    <a:pt x="12459081" y="2431288"/>
                  </a:cubicBezTo>
                  <a:lnTo>
                    <a:pt x="119126" y="2431288"/>
                  </a:lnTo>
                  <a:cubicBezTo>
                    <a:pt x="53340" y="2431288"/>
                    <a:pt x="0" y="2377948"/>
                    <a:pt x="0" y="23121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865707" y="7542400"/>
            <a:ext cx="9433608" cy="28594"/>
            <a:chOff x="0" y="0"/>
            <a:chExt cx="12578144" cy="38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8120996" y="7797689"/>
            <a:ext cx="8923039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Enhanced Accountability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20996" y="8258137"/>
            <a:ext cx="8923039" cy="85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All stakeholders — from officers to contractors — are held to a traceable, tamper-proof record.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1378344"/>
            <a:ext cx="16315868" cy="77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Future Enhancements &amp; Scalability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8219" y="2556186"/>
            <a:ext cx="552126" cy="552136"/>
            <a:chOff x="0" y="0"/>
            <a:chExt cx="736168" cy="7361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1083326" y="2651208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8" y="0"/>
                </a:lnTo>
                <a:lnTo>
                  <a:pt x="361778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313" r="0" b="-131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0522" y="2624719"/>
            <a:ext cx="1556832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System Integration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0522" y="3067279"/>
            <a:ext cx="15568327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Seamlessly connect with existing government ERP, finance, and citizen service platforms for holistic data flow.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3905469"/>
            <a:ext cx="552126" cy="552136"/>
            <a:chOff x="0" y="0"/>
            <a:chExt cx="736168" cy="7361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1083326" y="4000500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8" y="0"/>
                </a:lnTo>
                <a:lnTo>
                  <a:pt x="361778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16" t="0" r="-131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40522" y="3974001"/>
            <a:ext cx="1556832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Advanced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0522" y="4416562"/>
            <a:ext cx="15568327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Implement sophisticated dashboards and predictive models for deeper insights into procurement trends and performance.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219" y="5254762"/>
            <a:ext cx="552126" cy="552136"/>
            <a:chOff x="0" y="0"/>
            <a:chExt cx="736168" cy="7361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083326" y="5349792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8" y="0"/>
                </a:lnTo>
                <a:lnTo>
                  <a:pt x="361778" y="361789"/>
                </a:lnTo>
                <a:lnTo>
                  <a:pt x="0" y="3617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7628" r="0" b="-2763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40522" y="5323294"/>
            <a:ext cx="1556832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Mobile Application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0522" y="5765854"/>
            <a:ext cx="15568327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Develop intuitive mobile apps for officers and contractors, enabling on-the-go tender management and real-time updates.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8219" y="6604054"/>
            <a:ext cx="552126" cy="552136"/>
            <a:chOff x="0" y="0"/>
            <a:chExt cx="736168" cy="7361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083326" y="6699075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8" y="0"/>
                </a:lnTo>
                <a:lnTo>
                  <a:pt x="361778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265" t="0" r="-5263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40522" y="6672577"/>
            <a:ext cx="1556832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Multi-Chain Support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0522" y="7115137"/>
            <a:ext cx="15568327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Expand GovTender to support multiple blockchain networks, increasing interoperability and resilience.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7953337"/>
            <a:ext cx="552126" cy="552136"/>
            <a:chOff x="0" y="0"/>
            <a:chExt cx="736168" cy="7361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6092" cy="736219"/>
            </a:xfrm>
            <a:custGeom>
              <a:avLst/>
              <a:gdLst/>
              <a:ahLst/>
              <a:cxnLst/>
              <a:rect r="r" b="b" t="t" l="l"/>
              <a:pathLst>
                <a:path h="736219" w="736092">
                  <a:moveTo>
                    <a:pt x="0" y="137414"/>
                  </a:moveTo>
                  <a:cubicBezTo>
                    <a:pt x="0" y="61595"/>
                    <a:pt x="61595" y="0"/>
                    <a:pt x="137414" y="0"/>
                  </a:cubicBezTo>
                  <a:lnTo>
                    <a:pt x="598678" y="0"/>
                  </a:lnTo>
                  <a:cubicBezTo>
                    <a:pt x="674624" y="0"/>
                    <a:pt x="736092" y="61595"/>
                    <a:pt x="736092" y="137414"/>
                  </a:cubicBezTo>
                  <a:lnTo>
                    <a:pt x="736092" y="598805"/>
                  </a:lnTo>
                  <a:cubicBezTo>
                    <a:pt x="736092" y="674751"/>
                    <a:pt x="674497" y="736219"/>
                    <a:pt x="598678" y="736219"/>
                  </a:cubicBezTo>
                  <a:lnTo>
                    <a:pt x="137414" y="736219"/>
                  </a:lnTo>
                  <a:cubicBezTo>
                    <a:pt x="61595" y="736219"/>
                    <a:pt x="0" y="674624"/>
                    <a:pt x="0" y="598805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083326" y="8048368"/>
            <a:ext cx="361779" cy="361788"/>
          </a:xfrm>
          <a:custGeom>
            <a:avLst/>
            <a:gdLst/>
            <a:ahLst/>
            <a:cxnLst/>
            <a:rect r="r" b="b" t="t" l="l"/>
            <a:pathLst>
              <a:path h="361788" w="361779">
                <a:moveTo>
                  <a:pt x="0" y="0"/>
                </a:moveTo>
                <a:lnTo>
                  <a:pt x="361778" y="0"/>
                </a:lnTo>
                <a:lnTo>
                  <a:pt x="361778" y="361788"/>
                </a:lnTo>
                <a:lnTo>
                  <a:pt x="0" y="3617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630" r="0" b="-263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40522" y="8021869"/>
            <a:ext cx="15568327" cy="39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Massive Scalability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40522" y="8464429"/>
            <a:ext cx="15568327" cy="43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Optimize infrastructure to handle exponentially larger volumes of tenders across various departments and states.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926297"/>
            <a:ext cx="16315868" cy="68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Implementation &amp; Deployment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991" y="1792595"/>
            <a:ext cx="17230954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Our development process prioritized agility, rigorous testing, and a robust deployment strategy to ensure a high-quality, scalable system for GovTender.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88219" y="2322347"/>
            <a:ext cx="860727" cy="1286437"/>
            <a:chOff x="0" y="0"/>
            <a:chExt cx="1147636" cy="17152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7699" cy="1715262"/>
            </a:xfrm>
            <a:custGeom>
              <a:avLst/>
              <a:gdLst/>
              <a:ahLst/>
              <a:cxnLst/>
              <a:rect r="r" b="b" t="t" l="l"/>
              <a:pathLst>
                <a:path h="1715262" w="1147699">
                  <a:moveTo>
                    <a:pt x="0" y="573786"/>
                  </a:moveTo>
                  <a:cubicBezTo>
                    <a:pt x="0" y="256921"/>
                    <a:pt x="256921" y="0"/>
                    <a:pt x="573786" y="0"/>
                  </a:cubicBezTo>
                  <a:cubicBezTo>
                    <a:pt x="890651" y="0"/>
                    <a:pt x="1147699" y="256921"/>
                    <a:pt x="1147699" y="573786"/>
                  </a:cubicBezTo>
                  <a:lnTo>
                    <a:pt x="1147699" y="1141476"/>
                  </a:lnTo>
                  <a:cubicBezTo>
                    <a:pt x="1147699" y="1458341"/>
                    <a:pt x="890778" y="1715262"/>
                    <a:pt x="573913" y="1715262"/>
                  </a:cubicBezTo>
                  <a:cubicBezTo>
                    <a:pt x="257048" y="1715262"/>
                    <a:pt x="0" y="1458341"/>
                    <a:pt x="0" y="1141476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258995" y="2805970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3530" t="0" r="-2353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03698" y="2530278"/>
            <a:ext cx="15305151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Agile Development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698" y="2910716"/>
            <a:ext cx="15305151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Iterative sprints and continuous integration ensured rapid feature delivery and adaptability to evolving requirements.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8219" y="3758765"/>
            <a:ext cx="860727" cy="1286437"/>
            <a:chOff x="0" y="0"/>
            <a:chExt cx="1147636" cy="1715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7699" cy="1715262"/>
            </a:xfrm>
            <a:custGeom>
              <a:avLst/>
              <a:gdLst/>
              <a:ahLst/>
              <a:cxnLst/>
              <a:rect r="r" b="b" t="t" l="l"/>
              <a:pathLst>
                <a:path h="1715262" w="1147699">
                  <a:moveTo>
                    <a:pt x="0" y="573786"/>
                  </a:moveTo>
                  <a:cubicBezTo>
                    <a:pt x="0" y="256921"/>
                    <a:pt x="256921" y="0"/>
                    <a:pt x="573786" y="0"/>
                  </a:cubicBezTo>
                  <a:cubicBezTo>
                    <a:pt x="890651" y="0"/>
                    <a:pt x="1147699" y="256921"/>
                    <a:pt x="1147699" y="573786"/>
                  </a:cubicBezTo>
                  <a:lnTo>
                    <a:pt x="1147699" y="1141476"/>
                  </a:lnTo>
                  <a:cubicBezTo>
                    <a:pt x="1147699" y="1458341"/>
                    <a:pt x="890778" y="1715262"/>
                    <a:pt x="573913" y="1715262"/>
                  </a:cubicBezTo>
                  <a:cubicBezTo>
                    <a:pt x="257048" y="1715262"/>
                    <a:pt x="0" y="1458341"/>
                    <a:pt x="0" y="1141476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258995" y="4242387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3"/>
                </a:lnTo>
                <a:lnTo>
                  <a:pt x="0" y="319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9116" r="0" b="-1911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03698" y="3966696"/>
            <a:ext cx="15305151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Rigorous Testing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3698" y="4347134"/>
            <a:ext cx="15305151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Comprehensive unit, integration, and system tests validated every component for functionality, security, and performance.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219" y="5195183"/>
            <a:ext cx="860727" cy="1286437"/>
            <a:chOff x="0" y="0"/>
            <a:chExt cx="1147636" cy="1715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7699" cy="1715262"/>
            </a:xfrm>
            <a:custGeom>
              <a:avLst/>
              <a:gdLst/>
              <a:ahLst/>
              <a:cxnLst/>
              <a:rect r="r" b="b" t="t" l="l"/>
              <a:pathLst>
                <a:path h="1715262" w="1147699">
                  <a:moveTo>
                    <a:pt x="0" y="573786"/>
                  </a:moveTo>
                  <a:cubicBezTo>
                    <a:pt x="0" y="256921"/>
                    <a:pt x="256921" y="0"/>
                    <a:pt x="573786" y="0"/>
                  </a:cubicBezTo>
                  <a:cubicBezTo>
                    <a:pt x="890651" y="0"/>
                    <a:pt x="1147699" y="256921"/>
                    <a:pt x="1147699" y="573786"/>
                  </a:cubicBezTo>
                  <a:lnTo>
                    <a:pt x="1147699" y="1141476"/>
                  </a:lnTo>
                  <a:cubicBezTo>
                    <a:pt x="1147699" y="1458341"/>
                    <a:pt x="890778" y="1715262"/>
                    <a:pt x="573913" y="1715262"/>
                  </a:cubicBezTo>
                  <a:cubicBezTo>
                    <a:pt x="257048" y="1715262"/>
                    <a:pt x="0" y="1458341"/>
                    <a:pt x="0" y="1141476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258995" y="5678805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884" t="0" r="-588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03698" y="5403113"/>
            <a:ext cx="15305151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Tech Stack Integration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3698" y="5783561"/>
            <a:ext cx="15305151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Seamlessly integrated React.js, FastAPI, PostgreSQL, Hyperledger Fabric, and ML models into a cohesive architecture.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8219" y="6631600"/>
            <a:ext cx="860727" cy="1286437"/>
            <a:chOff x="0" y="0"/>
            <a:chExt cx="1147636" cy="17152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7699" cy="1715262"/>
            </a:xfrm>
            <a:custGeom>
              <a:avLst/>
              <a:gdLst/>
              <a:ahLst/>
              <a:cxnLst/>
              <a:rect r="r" b="b" t="t" l="l"/>
              <a:pathLst>
                <a:path h="1715262" w="1147699">
                  <a:moveTo>
                    <a:pt x="0" y="573786"/>
                  </a:moveTo>
                  <a:cubicBezTo>
                    <a:pt x="0" y="256921"/>
                    <a:pt x="256921" y="0"/>
                    <a:pt x="573786" y="0"/>
                  </a:cubicBezTo>
                  <a:cubicBezTo>
                    <a:pt x="890651" y="0"/>
                    <a:pt x="1147699" y="256921"/>
                    <a:pt x="1147699" y="573786"/>
                  </a:cubicBezTo>
                  <a:lnTo>
                    <a:pt x="1147699" y="1141476"/>
                  </a:lnTo>
                  <a:cubicBezTo>
                    <a:pt x="1147699" y="1458341"/>
                    <a:pt x="890778" y="1715262"/>
                    <a:pt x="573913" y="1715262"/>
                  </a:cubicBezTo>
                  <a:cubicBezTo>
                    <a:pt x="257048" y="1715262"/>
                    <a:pt x="0" y="1458341"/>
                    <a:pt x="0" y="1141476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258995" y="7115223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71" t="0" r="-1471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03698" y="6839541"/>
            <a:ext cx="15305151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Smart Contract Development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3698" y="7219979"/>
            <a:ext cx="15305151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Developed and audited secure smart contracts for automated bid validation and payment processing on Hyperledger Fabric.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8219" y="8068027"/>
            <a:ext cx="860727" cy="1286437"/>
            <a:chOff x="0" y="0"/>
            <a:chExt cx="1147636" cy="17152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7699" cy="1715262"/>
            </a:xfrm>
            <a:custGeom>
              <a:avLst/>
              <a:gdLst/>
              <a:ahLst/>
              <a:cxnLst/>
              <a:rect r="r" b="b" t="t" l="l"/>
              <a:pathLst>
                <a:path h="1715262" w="1147699">
                  <a:moveTo>
                    <a:pt x="0" y="573786"/>
                  </a:moveTo>
                  <a:cubicBezTo>
                    <a:pt x="0" y="256921"/>
                    <a:pt x="256921" y="0"/>
                    <a:pt x="573786" y="0"/>
                  </a:cubicBezTo>
                  <a:cubicBezTo>
                    <a:pt x="890651" y="0"/>
                    <a:pt x="1147699" y="256921"/>
                    <a:pt x="1147699" y="573786"/>
                  </a:cubicBezTo>
                  <a:lnTo>
                    <a:pt x="1147699" y="1141476"/>
                  </a:lnTo>
                  <a:cubicBezTo>
                    <a:pt x="1147699" y="1458341"/>
                    <a:pt x="890778" y="1715262"/>
                    <a:pt x="573913" y="1715262"/>
                  </a:cubicBezTo>
                  <a:cubicBezTo>
                    <a:pt x="257048" y="1715262"/>
                    <a:pt x="0" y="1458341"/>
                    <a:pt x="0" y="1141476"/>
                  </a:cubicBezTo>
                  <a:close/>
                </a:path>
              </a:pathLst>
            </a:custGeom>
            <a:solidFill>
              <a:srgbClr val="283157"/>
            </a:solidFill>
            <a:ln w="9532" cap="sq">
              <a:solidFill>
                <a:srgbClr val="414A70"/>
              </a:solidFill>
              <a:prstDash val="solid"/>
              <a:miter/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58995" y="8551650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03698" y="8275958"/>
            <a:ext cx="15305151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Cloud Deployment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3698" y="8656396"/>
            <a:ext cx="15305151" cy="3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Implemented a scalable cloud-native deployment strategy ensuring high availability and robust performance for the platform.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991" y="1314602"/>
            <a:ext cx="16315868" cy="68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95925" y="3384614"/>
            <a:ext cx="7817606" cy="4430058"/>
            <a:chOff x="0" y="0"/>
            <a:chExt cx="10423474" cy="5906745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10423525" cy="5906770"/>
            </a:xfrm>
            <a:custGeom>
              <a:avLst/>
              <a:gdLst/>
              <a:ahLst/>
              <a:cxnLst/>
              <a:rect r="r" b="b" t="t" l="l"/>
              <a:pathLst>
                <a:path h="5906770" w="10423525">
                  <a:moveTo>
                    <a:pt x="0" y="0"/>
                  </a:moveTo>
                  <a:lnTo>
                    <a:pt x="10423525" y="0"/>
                  </a:lnTo>
                  <a:lnTo>
                    <a:pt x="10423525" y="5906770"/>
                  </a:lnTo>
                  <a:lnTo>
                    <a:pt x="0" y="5906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945198" y="2388032"/>
            <a:ext cx="5373033" cy="3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What GovTender Delivers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45198" y="2832373"/>
            <a:ext cx="5373033" cy="124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GovTender combines </a:t>
            </a:r>
            <a:r>
              <a:rPr lang="en-US" sz="1651" b="true">
                <a:solidFill>
                  <a:srgbClr val="8C98CA"/>
                </a:solidFill>
                <a:latin typeface="Arimo Bold"/>
                <a:ea typeface="Arimo Bold"/>
                <a:cs typeface="Arimo Bold"/>
                <a:sym typeface="Arimo Bold"/>
              </a:rPr>
              <a:t>blockchain</a:t>
            </a: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651" b="true">
                <a:solidFill>
                  <a:srgbClr val="8C98CA"/>
                </a:solidFill>
                <a:latin typeface="Arimo Bold"/>
                <a:ea typeface="Arimo Bold"/>
                <a:cs typeface="Arimo Bold"/>
                <a:sym typeface="Arimo Bold"/>
              </a:rPr>
              <a:t>smart contracts</a:t>
            </a: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and </a:t>
            </a:r>
            <a:r>
              <a:rPr lang="en-US" sz="1651" b="true">
                <a:solidFill>
                  <a:srgbClr val="8C98CA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</a:t>
            </a: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into a unified platform for secure, transparent government procurement.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45198" y="4167511"/>
            <a:ext cx="5373033" cy="314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Addresses critical gaps in existing e-tendering systems — especially in post-award monitoring where most systems fall silent.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Extends the tender lifecycle beyond award into active project execution tracking and milestone-based payment control.</a:t>
            </a:r>
          </a:p>
          <a:p>
            <a:pPr algn="l" marL="299075" indent="-149537" lvl="1">
              <a:lnSpc>
                <a:spcPts val="2318"/>
              </a:lnSpc>
              <a:buFont typeface="Arial"/>
              <a:buChar char="•"/>
            </a:pPr>
            <a:r>
              <a:rPr lang="en-US" sz="1651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Scalable architecture designed to improve public fund management and deliver better project outcomes across government departments.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945198" y="7494737"/>
            <a:ext cx="5373033" cy="1287180"/>
            <a:chOff x="0" y="0"/>
            <a:chExt cx="7164045" cy="171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3943" cy="1716151"/>
            </a:xfrm>
            <a:custGeom>
              <a:avLst/>
              <a:gdLst/>
              <a:ahLst/>
              <a:cxnLst/>
              <a:rect r="r" b="b" t="t" l="l"/>
              <a:pathLst>
                <a:path h="1716151" w="7163943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7044817" y="0"/>
                  </a:lnTo>
                  <a:cubicBezTo>
                    <a:pt x="7110603" y="0"/>
                    <a:pt x="7163943" y="53340"/>
                    <a:pt x="7163943" y="119126"/>
                  </a:cubicBezTo>
                  <a:lnTo>
                    <a:pt x="7163943" y="1597025"/>
                  </a:lnTo>
                  <a:cubicBezTo>
                    <a:pt x="7163943" y="1662811"/>
                    <a:pt x="7110603" y="1716151"/>
                    <a:pt x="7044817" y="1716151"/>
                  </a:cubicBezTo>
                  <a:lnTo>
                    <a:pt x="119126" y="1716151"/>
                  </a:lnTo>
                  <a:cubicBezTo>
                    <a:pt x="53340" y="1716151"/>
                    <a:pt x="0" y="1662811"/>
                    <a:pt x="0" y="1597025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57881" y="7730966"/>
            <a:ext cx="266005" cy="212693"/>
            <a:chOff x="0" y="0"/>
            <a:chExt cx="354673" cy="28359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65" r="10" b="-136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36579" y="7634345"/>
            <a:ext cx="4468968" cy="95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GovTender is a step toward accountable, data-driven, and corruption-resistant public procurement.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DAHXJmrCvZQ</dc:identifier>
  <dcterms:modified xsi:type="dcterms:W3CDTF">2011-08-01T06:04:30Z</dcterms:modified>
  <cp:revision>1</cp:revision>
  <dc:title>Blockchain-Based-E-Tender-Management-System.pptx</dc:title>
</cp:coreProperties>
</file>